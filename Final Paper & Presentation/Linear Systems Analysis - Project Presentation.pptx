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73" r:id="rId10"/>
    <p:sldId id="262" r:id="rId11"/>
    <p:sldId id="265" r:id="rId12"/>
    <p:sldId id="261" r:id="rId13"/>
    <p:sldId id="269" r:id="rId14"/>
    <p:sldId id="267" r:id="rId15"/>
    <p:sldId id="270" r:id="rId16"/>
    <p:sldId id="263" r:id="rId17"/>
    <p:sldId id="271" r:id="rId18"/>
    <p:sldId id="272" r:id="rId19"/>
    <p:sldId id="274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A23A3E-7988-6802-DF6F-66C5EEF1531C}" v="145" dt="2025-12-03T16:19:11.725"/>
    <p1510:client id="{97B0C296-FB38-798E-26CB-4EF2276E97A3}" v="192" dt="2025-12-03T15:05:07.379"/>
    <p1510:client id="{E93B6130-6D59-DC63-1874-EA0C9072AEA1}" v="549" dt="2025-12-04T04:55:13.642"/>
    <p1510:client id="{F0415E2D-35CB-40EF-96AA-D14165226D07}" v="1307" dt="2025-12-04T00:16:09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A4CF-CACD-ED98-EC44-FC49759CE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DF9AB-8A18-1FD6-6D04-CD2388F50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E429A-ACA4-6268-9490-F638E2CD4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2E720-492C-D9B5-C609-6FF867A94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AC4C7-6521-9B09-1DAF-2BF09EC7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1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855A-F14D-092A-913E-926DA614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EB9AA-057B-F540-8F42-D54FCB51F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E98B4-E204-1188-C16C-9AF39FE2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2C411-E2C3-4588-FE81-89E2AFF26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5AC73-2895-9DFE-89BA-C5597852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6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9E5D-FD26-FB05-D992-6FBF7BBD3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26BFC-BA38-288F-DCAE-888D77E81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BDB13-585D-7B67-F4F2-87CA332A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28E41-78A0-6E31-C145-F65BAEBF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45742-1842-F6B7-F2AD-A27073F8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2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712B-BDE8-392E-4D4D-C3357AA1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39471-6CB4-5E7C-5F2A-7340A3E33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7B24A-4840-4F3C-6DFB-9527D5F54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3549B-1528-ED30-6A14-76AD2D4A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1221F-8652-E2F8-365C-FEE73009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95795-C68E-1B28-90FC-55125754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68C0-0790-6558-A198-0EC2458C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00E10-64A3-6012-AE78-B3276457B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B3E0B-2F18-C003-95B4-B801C6AA4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0458C-02E6-89AE-BF11-91B96660C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7B1B0-784B-309C-CA3B-B9D548C13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0F294F-242E-D3BC-3BF2-AC0302D3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6643C-D053-BBC9-BF3F-57232847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250C81-AF14-E827-C13E-1A06DCAA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6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8CD4-A1C3-D5E9-7DC2-F030BA4B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7EF13-F2CA-8A0F-EF2D-E8FF71D0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D9FE1-5467-2E17-EF29-A0B8AE991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B43DD-7BB9-38AD-9559-F210CC59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4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A33BE-7D95-E14A-B311-1C219FDC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B7EB0-9B0A-67C6-D681-319B80B6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3D67C-7A68-FCC5-BA2B-E6594033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79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638AB-2642-82CA-E219-1DFF2338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21A4-856F-2713-2717-3B93598DC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C339-0FCA-2517-5E74-5D4752257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FDFF2-9B9B-06B7-AFD2-75AAE14A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C245D-D50A-3314-A7DE-7BD265C6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A8B0F-4B11-51FB-7A11-9D8A9FDD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8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E7FA-888A-E7FA-081B-11A7C4181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840E3-C229-58DB-56A5-599D8D41B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BF62C-0AEA-B429-2B3D-814BF47BE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D26B9-149D-3F54-0CEE-19116DC6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45C75-C347-6967-71C8-F5F2A6B8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D3810-2D11-F466-53DF-043958B1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B5C6-1744-3A99-206F-4BBA8546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0D828-BE57-F8BD-C4AD-71CF00858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C4FFD-2D4E-1D78-AC17-1E5CCB07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24F07-F5A5-7E0E-8741-95406F02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B7A83-7056-55AC-340C-C7968415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5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E3B5A2-7806-37FA-FB0C-2D6A8EFF5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5812A-D34A-26DE-B760-F571E4FFE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F533E-2560-4116-B00E-6922B9029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4F037-15EF-59D0-B721-6C961FC5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B4A41-96B6-F116-2585-4EC5FD47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F6C8F-6553-7C0E-429B-7A310319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49211-0B63-5ADA-C0A8-0E7C25310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BEF89-58D8-CEA2-348D-21BE28311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248B2-0C57-4549-9A88-5DDD874556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8E5A7-A1A3-2EDF-B32D-80F55B920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64CF3-A0A5-CAA9-75B7-B263C5131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C36B0-01E9-4314-BDA0-C7AC113C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1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C094-B058-427A-0BF3-EC8D2C97D8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Linearized Pitch-Axis Attitude Control of a Rocket Using State Feedback and Observer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C940F-5FFC-8347-642F-8335E178CA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Blaine </a:t>
            </a:r>
            <a:r>
              <a:rPr lang="en-US" dirty="0" err="1"/>
              <a:t>Swieder</a:t>
            </a:r>
            <a:r>
              <a:rPr lang="en-US" dirty="0"/>
              <a:t> and Dakota Moye</a:t>
            </a:r>
          </a:p>
        </p:txBody>
      </p:sp>
    </p:spTree>
    <p:extLst>
      <p:ext uri="{BB962C8B-B14F-4D97-AF65-F5344CB8AC3E}">
        <p14:creationId xmlns:p14="http://schemas.microsoft.com/office/powerpoint/2010/main" val="96375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5DCF-722C-73EC-ED98-52A7830D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371D-9ED8-7F62-222A-577134C6E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Goal: Regulate Pitch Angle of a launch vehicle around an upright operating point.</a:t>
            </a:r>
          </a:p>
          <a:p>
            <a:r>
              <a:rPr lang="en-US" dirty="0">
                <a:ea typeface="+mn-lt"/>
                <a:cs typeface="+mn-lt"/>
              </a:rPr>
              <a:t>Use a linearized two state model (pitch angle θ and pitch rate q) with Thrust-Vector Control (TVC). </a:t>
            </a:r>
            <a:endParaRPr lang="en-US" sz="1100" b="1" dirty="0">
              <a:solidFill>
                <a:srgbClr val="EAECF0"/>
              </a:solidFill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Analyze stability, </a:t>
            </a:r>
            <a:r>
              <a:rPr lang="en-US" dirty="0" err="1">
                <a:ea typeface="+mn-lt"/>
                <a:cs typeface="+mn-lt"/>
              </a:rPr>
              <a:t>eigenstructure</a:t>
            </a:r>
            <a:r>
              <a:rPr lang="en-US" dirty="0">
                <a:ea typeface="+mn-lt"/>
                <a:cs typeface="+mn-lt"/>
              </a:rPr>
              <a:t>, controllability, and observability. </a:t>
            </a:r>
          </a:p>
          <a:p>
            <a:r>
              <a:rPr lang="en-US" dirty="0">
                <a:ea typeface="+mn-lt"/>
                <a:cs typeface="+mn-lt"/>
              </a:rPr>
              <a:t>Validate performance with MATLAB simulations for step response, actuator limits, disturbance rejection, and +/- 10%</a:t>
            </a:r>
            <a:r>
              <a:rPr lang="en-US">
                <a:ea typeface="+mn-lt"/>
                <a:cs typeface="+mn-lt"/>
              </a:rPr>
              <a:t> parameter variations. 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059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cket launch">
            <a:extLst>
              <a:ext uri="{FF2B5EF4-FFF2-40B4-BE49-F238E27FC236}">
                <a16:creationId xmlns:a16="http://schemas.microsoft.com/office/drawing/2014/main" id="{0E883AC2-57FC-CD31-6EBB-223A4EA49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71" r="6763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D029B-BDE5-4626-2AEF-13142C48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66E91-22A1-4679-FEBA-737055426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Launch Vhicles rely on Thrust-Vector Contol (TVC) for pitch reliability during ascent. 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Early ascent allows for reliable small-angle linearization which enables state-space control design.</a:t>
            </a:r>
          </a:p>
          <a:p>
            <a:r>
              <a:rPr lang="en-US" sz="1700">
                <a:ea typeface="+mn-lt"/>
                <a:cs typeface="+mn-lt"/>
              </a:rPr>
              <a:t>Standard GN&amp;C practice uses LQR, Pole Placement, and observers for attitude control. </a:t>
            </a:r>
            <a:endParaRPr lang="en-US" sz="1700"/>
          </a:p>
          <a:p>
            <a:r>
              <a:rPr lang="en-US" sz="1700"/>
              <a:t>The literature supports linear modeling near trim and validates robustness metrics here.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418952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789C-B74E-148F-89B7-33A39499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Formulation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5FCC-6ACB-6091-7281-B37BBC6B6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States: x = [θ q]^T, input u = δ (gimbal deflection), output y = θ.</a:t>
            </a:r>
            <a:endParaRPr lang="en-US" sz="1100" b="1" dirty="0">
              <a:solidFill>
                <a:srgbClr val="EAECF0"/>
              </a:solidFill>
            </a:endParaRPr>
          </a:p>
          <a:p>
            <a:r>
              <a:rPr lang="en-US" dirty="0"/>
              <a:t>Goal: To track small pitch commands with good damping and bounded actuator effort. 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Linearized model about  upright equilibrium. </a:t>
            </a:r>
          </a:p>
          <a:p>
            <a:r>
              <a:rPr lang="en-US" dirty="0"/>
              <a:t>Finalized State-Space Form </a:t>
            </a:r>
          </a:p>
          <a:p>
            <a:r>
              <a:rPr lang="en-US" dirty="0"/>
              <a:t>Integral Action added via</a:t>
            </a:r>
            <a:r>
              <a:rPr lang="en-US"/>
              <a:t> the 3-state augmented system. </a:t>
            </a:r>
            <a:endParaRPr lang="en-US" dirty="0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CC74C-7C3C-C11B-68EC-86A7BF2DA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80" y="5406221"/>
            <a:ext cx="4223097" cy="3983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EC7A8A-8A1B-CBA8-2353-03A6DDFC3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962" y="5349984"/>
            <a:ext cx="3243719" cy="510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D196D-0386-84A6-409A-29B7DB3D2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418" y="5166465"/>
            <a:ext cx="2040176" cy="86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7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A5FA-1EFB-3CA3-D899-7365CB20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and System Modeling</a:t>
            </a:r>
          </a:p>
        </p:txBody>
      </p:sp>
      <p:pic>
        <p:nvPicPr>
          <p:cNvPr id="25" name="Picture 24" descr="A math symbols and symbols&#10;&#10;AI-generated content may be incorrect.">
            <a:extLst>
              <a:ext uri="{FF2B5EF4-FFF2-40B4-BE49-F238E27FC236}">
                <a16:creationId xmlns:a16="http://schemas.microsoft.com/office/drawing/2014/main" id="{FC23E1AC-699F-561D-B479-4D6CF74AE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18" y="3298004"/>
            <a:ext cx="3806508" cy="2657635"/>
          </a:xfrm>
          <a:prstGeom prst="rect">
            <a:avLst/>
          </a:prstGeom>
        </p:spPr>
      </p:pic>
      <p:pic>
        <p:nvPicPr>
          <p:cNvPr id="27" name="Picture 2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8F4C5F53-34E8-0007-6934-6AE29E250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027" y="3298004"/>
            <a:ext cx="6053883" cy="26576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958F5C-FE27-12FB-A97A-9106FCC1F765}"/>
                  </a:ext>
                </a:extLst>
              </p:cNvPr>
              <p:cNvSpPr txBox="1"/>
              <p:nvPr/>
            </p:nvSpPr>
            <p:spPr>
              <a:xfrm>
                <a:off x="708916" y="1630219"/>
                <a:ext cx="494330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Inertial Acceleration</a:t>
                </a: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𝑡𝑣𝑐</m:t>
                        </m:r>
                      </m:sub>
                    </m:sSub>
                  </m:oMath>
                </a14:m>
                <a:r>
                  <a:rPr lang="en-US" sz="2000" dirty="0"/>
                  <a:t> is input thrust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𝑎𝑒𝑟𝑜</m:t>
                        </m:r>
                      </m:sub>
                    </m:sSub>
                  </m:oMath>
                </a14:m>
                <a:r>
                  <a:rPr lang="en-US" sz="2000" dirty="0"/>
                  <a:t> is aerodynamic damping force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random disturbance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958F5C-FE27-12FB-A97A-9106FCC1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16" y="1630219"/>
                <a:ext cx="4943306" cy="1323439"/>
              </a:xfrm>
              <a:prstGeom prst="rect">
                <a:avLst/>
              </a:prstGeom>
              <a:blipFill>
                <a:blip r:embed="rId4"/>
                <a:stretch>
                  <a:fillRect l="-1110" t="-1835" r="-123" b="-7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7F0AA8-660F-F934-47C0-9EC9008BC535}"/>
                  </a:ext>
                </a:extLst>
              </p:cNvPr>
              <p:cNvSpPr txBox="1"/>
              <p:nvPr/>
            </p:nvSpPr>
            <p:spPr>
              <a:xfrm>
                <a:off x="6705033" y="1476330"/>
                <a:ext cx="366787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State Space Representation</a:t>
                </a:r>
                <a:endParaRPr lang="en-US" sz="20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is pitch angle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is pitch velocity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are used for the state space model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7F0AA8-660F-F934-47C0-9EC9008BC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033" y="1476330"/>
                <a:ext cx="3667873" cy="1631216"/>
              </a:xfrm>
              <a:prstGeom prst="rect">
                <a:avLst/>
              </a:prstGeom>
              <a:blipFill>
                <a:blip r:embed="rId5"/>
                <a:stretch>
                  <a:fillRect l="-1495" t="-1866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A7D2A66-E965-8F87-9AE6-D46C43D96489}"/>
              </a:ext>
            </a:extLst>
          </p:cNvPr>
          <p:cNvSpPr txBox="1"/>
          <p:nvPr/>
        </p:nvSpPr>
        <p:spPr>
          <a:xfrm>
            <a:off x="0" y="0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75149A-E2F8-B3CE-F1C5-07B15F974F69}"/>
              </a:ext>
            </a:extLst>
          </p:cNvPr>
          <p:cNvSpPr txBox="1"/>
          <p:nvPr/>
        </p:nvSpPr>
        <p:spPr>
          <a:xfrm>
            <a:off x="-1" y="6375114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319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6BCE3-ECFC-15EC-A11B-2B8702A0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87CE-7A36-DA7B-8BFC-897CBED8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Space Description</a:t>
            </a:r>
          </a:p>
        </p:txBody>
      </p:sp>
      <p:pic>
        <p:nvPicPr>
          <p:cNvPr id="7" name="Picture 6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23FA5F1F-BFA9-F9EE-6027-A42E089E3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6" y="1499996"/>
            <a:ext cx="10067487" cy="19290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84BA9C-C3A8-184D-6635-EBF37D71E469}"/>
              </a:ext>
            </a:extLst>
          </p:cNvPr>
          <p:cNvSpPr txBox="1"/>
          <p:nvPr/>
        </p:nvSpPr>
        <p:spPr>
          <a:xfrm>
            <a:off x="0" y="0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0E2FE-8E7F-91C4-6529-E78667B34767}"/>
              </a:ext>
            </a:extLst>
          </p:cNvPr>
          <p:cNvSpPr txBox="1"/>
          <p:nvPr/>
        </p:nvSpPr>
        <p:spPr>
          <a:xfrm>
            <a:off x="-1" y="6375114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EF08F967-DE86-FA19-18AD-610AB06BF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764" y="3644855"/>
            <a:ext cx="8308467" cy="251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84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9518-12EE-D400-372A-9B79CD32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Loop System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6F4E1-DDDB-A894-ED5E-77891E1136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Eigenvalues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		System is marginally stable.</a:t>
                </a:r>
              </a:p>
              <a:p>
                <a:r>
                  <a:rPr lang="en-US" dirty="0"/>
                  <a:t>Controllability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			System isn’t fully controllable.</a:t>
                </a:r>
              </a:p>
              <a:p>
                <a:r>
                  <a:rPr lang="en-US" dirty="0"/>
                  <a:t>Observability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			System is fully observable.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6F4E1-DDDB-A894-ED5E-77891E1136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8423212-73C7-5272-6045-7C302852E769}"/>
              </a:ext>
            </a:extLst>
          </p:cNvPr>
          <p:cNvSpPr txBox="1"/>
          <p:nvPr/>
        </p:nvSpPr>
        <p:spPr>
          <a:xfrm>
            <a:off x="0" y="0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953FF-AD91-56E5-1FD4-71276451B374}"/>
              </a:ext>
            </a:extLst>
          </p:cNvPr>
          <p:cNvSpPr txBox="1"/>
          <p:nvPr/>
        </p:nvSpPr>
        <p:spPr>
          <a:xfrm>
            <a:off x="-1" y="6375114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13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A1C2-CDE6-7595-E756-FF083E9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7D1C-06BB-E6E8-3676-C0F8B1E2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B86774-8816-94BF-DAA9-E57956275B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Eigenvalues placed 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=−4,−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Two separate controllers used</a:t>
                </a:r>
              </a:p>
              <a:p>
                <a:r>
                  <a:rPr lang="en-US" sz="2400" dirty="0"/>
                  <a:t>Pole Placement (PP) used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BK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+4)(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Linear Quadratic Regulator (LQR) used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dirty="0"/>
                  <a:t>Uses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SA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SB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to solve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to find gain.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B86774-8816-94BF-DAA9-E57956275B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F826F9F-22DE-DCD4-922C-A4C33882C7D6}"/>
              </a:ext>
            </a:extLst>
          </p:cNvPr>
          <p:cNvSpPr txBox="1"/>
          <p:nvPr/>
        </p:nvSpPr>
        <p:spPr>
          <a:xfrm>
            <a:off x="0" y="0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3557C-3643-DFCC-BAE2-132AB86E9591}"/>
              </a:ext>
            </a:extLst>
          </p:cNvPr>
          <p:cNvSpPr txBox="1"/>
          <p:nvPr/>
        </p:nvSpPr>
        <p:spPr>
          <a:xfrm>
            <a:off x="-1" y="6375114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06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FDB-1511-7C73-9ECB-9DB6552C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1FD2-E082-6DA6-D0ED-A1F0A1404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experiment tests LQR and PP controller.</a:t>
            </a:r>
          </a:p>
          <a:p>
            <a:r>
              <a:rPr lang="en-US" dirty="0"/>
              <a:t>Experiment 1</a:t>
            </a:r>
          </a:p>
          <a:p>
            <a:pPr lvl="1"/>
            <a:r>
              <a:rPr lang="en-US" dirty="0"/>
              <a:t>The closed loop system properly tracks the input.</a:t>
            </a:r>
          </a:p>
          <a:p>
            <a:r>
              <a:rPr lang="en-US" dirty="0"/>
              <a:t>Experiment 2</a:t>
            </a:r>
          </a:p>
          <a:p>
            <a:pPr lvl="1"/>
            <a:r>
              <a:rPr lang="en-US" dirty="0"/>
              <a:t>The closed loop system properly tracks a larger input.</a:t>
            </a:r>
          </a:p>
          <a:p>
            <a:r>
              <a:rPr lang="en-US" dirty="0"/>
              <a:t>Experiment 3</a:t>
            </a:r>
          </a:p>
          <a:p>
            <a:pPr lvl="1"/>
            <a:r>
              <a:rPr lang="en-US" dirty="0"/>
              <a:t>The closed loop system properly stabilizes after a disturbance.</a:t>
            </a:r>
          </a:p>
          <a:p>
            <a:r>
              <a:rPr lang="en-US" dirty="0"/>
              <a:t>Experiment 4</a:t>
            </a:r>
          </a:p>
          <a:p>
            <a:pPr lvl="1"/>
            <a:r>
              <a:rPr lang="en-US" dirty="0"/>
              <a:t>The closed loop system tracks under slightly different shifted variables.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D421B-B759-8B08-F64D-6CBA51E33D67}"/>
              </a:ext>
            </a:extLst>
          </p:cNvPr>
          <p:cNvSpPr txBox="1"/>
          <p:nvPr/>
        </p:nvSpPr>
        <p:spPr>
          <a:xfrm>
            <a:off x="0" y="0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6A3F5-44BA-F35E-DB6A-145BE6288180}"/>
              </a:ext>
            </a:extLst>
          </p:cNvPr>
          <p:cNvSpPr txBox="1"/>
          <p:nvPr/>
        </p:nvSpPr>
        <p:spPr>
          <a:xfrm>
            <a:off x="-1" y="6375114"/>
            <a:ext cx="12191999" cy="482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276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10B34-E867-9140-B3FA-604D910D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A82854-AE3E-F558-785D-D9B8B58E1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A69DB-3385-C681-CBE3-F3AF8429F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64CF6D02-4726-DAE3-7E18-098DDEA54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695" y="1874205"/>
            <a:ext cx="5455480" cy="3956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E1DC03-1D30-EB83-18C0-24B55FB4B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039" y="1866347"/>
            <a:ext cx="6170617" cy="396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99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EDEA5-42F2-10E6-7A93-96DE3A7D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CCCA1-1CB5-AC21-E3C8-57B63E9EB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7" name="Content Placeholder 6" descr="A graph of a line graph&#10;&#10;AI-generated content may be incorrect.">
            <a:extLst>
              <a:ext uri="{FF2B5EF4-FFF2-40B4-BE49-F238E27FC236}">
                <a16:creationId xmlns:a16="http://schemas.microsoft.com/office/drawing/2014/main" id="{558862F3-E0BC-7E6C-3542-9D91F9BB0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318355"/>
            <a:ext cx="10905066" cy="310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05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9E456-969F-EE85-160A-0A2982C8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C51CFC4-23E7-BC23-3C25-C857B671D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A5183-19B9-EF9D-2110-BA2C025C4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A3A0203F-5EB5-EC8A-6C66-4EF604AF2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330" y="2284772"/>
            <a:ext cx="11089860" cy="322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7F62-582C-87A7-3640-58A2D530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53137-8E38-D6F4-4809-826CB361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Linearized Pitch-Axis Model is derived from Newton-Euler dynamics with small-angle TVC moment approximation. </a:t>
            </a:r>
          </a:p>
          <a:p>
            <a:r>
              <a:rPr lang="en-US" dirty="0"/>
              <a:t>Controllability, obsevability, and eigenstructure validated feasibility of state-space control and estimation.</a:t>
            </a:r>
          </a:p>
          <a:p>
            <a:r>
              <a:rPr lang="en-US" dirty="0"/>
              <a:t>Pole-Placement and LQR controllers implemented using the integral-augmented model to eliminate steady-state error.</a:t>
            </a:r>
          </a:p>
          <a:p>
            <a:r>
              <a:rPr lang="en-US" dirty="0"/>
              <a:t>Simulations confirmed robustness across step-</a:t>
            </a:r>
            <a:r>
              <a:rPr lang="en-US"/>
              <a:t>tracking, saturation, disturbance, and +/- 10% parameter variation.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92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0E9E-9D47-9EA0-9E6F-FB76A57A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810D8-866C-E2ED-72A5-B78678241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400">
                <a:ea typeface="+mn-lt"/>
                <a:cs typeface="+mn-lt"/>
              </a:rPr>
              <a:t>C. J. Dennehy, R. Lanzi, and P. Ward, “GN&amp;C design overview and flight test results from NASA’s max launch abort system (MLAS),” in AIAA Guidance, Navigation, and Control Conference, NASA NTRS 20110000768, 2010.</a:t>
            </a:r>
          </a:p>
          <a:p>
            <a:r>
              <a:rPr lang="en-US" sz="1400">
                <a:ea typeface="+mn-lt"/>
                <a:cs typeface="+mn-lt"/>
              </a:rPr>
              <a:t>B. Stuart, J. McEnulty, J. Wall, J. Orr, and P. Pektas, “Overview of the SLS core stage thrust vector control system design,” in AAS Guidance, Navigation and Control Conference, NASA NTRS 20230001023, 2023.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J. S. Orr and J. W. Wall, “Linear approximation to optimal control allocation for rocket nozzles with elliptical constraints,” in AIAA Guidance, Navigation, and Control Conference, NASA NTRS 20110015708, 2011. DOI: 10.2514/6.2011-6500.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J. Borsody and F. Teren, “Stability analysis and minimum thrust vector control requirements of booster vehicles during atmospheric flight,” NASA, Tech. Rep. NASA TN D-4593, 1968.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M. Athans, “The role and use of the stochastic linear- quadratic-gaussian problem in control system design,” IEEE Transactions on Automatic Control, vol. AC-16, no. 6, pp. 529–552, 1971.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D. G. </a:t>
            </a:r>
            <a:r>
              <a:rPr lang="en-US" sz="1400" err="1">
                <a:ea typeface="+mn-lt"/>
                <a:cs typeface="+mn-lt"/>
              </a:rPr>
              <a:t>Luenberger</a:t>
            </a:r>
            <a:r>
              <a:rPr lang="en-US" sz="1400">
                <a:ea typeface="+mn-lt"/>
                <a:cs typeface="+mn-lt"/>
              </a:rPr>
              <a:t>, “Observers for multivariable systems,” IEEE Transactions on Automatic Control, vol. AC-11, no. 2, pp. 190–197, 1966. DOI: 10.1109/ TAC.1966.1098323.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T. Claggett and M. </a:t>
            </a:r>
            <a:r>
              <a:rPr lang="en-US" sz="1400" err="1">
                <a:ea typeface="+mn-lt"/>
                <a:cs typeface="+mn-lt"/>
              </a:rPr>
              <a:t>Langehough</a:t>
            </a:r>
            <a:r>
              <a:rPr lang="en-US" sz="1400">
                <a:ea typeface="+mn-lt"/>
                <a:cs typeface="+mn-lt"/>
              </a:rPr>
              <a:t>, “Application of integral-LQ to launch vehicle autopilot design,” in AIAA Guidance, Navigation, and Control Conference, 1989. DOI: 10.2514/6.1989-3459.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P. dos Santos and P. Oliveira, “Integrated architecture for navigation and attitude control of low-cost suborbital launch vehicles,” Acta </a:t>
            </a:r>
            <a:r>
              <a:rPr lang="en-US" sz="1400" err="1">
                <a:ea typeface="+mn-lt"/>
                <a:cs typeface="+mn-lt"/>
              </a:rPr>
              <a:t>Astronautica</a:t>
            </a:r>
            <a:r>
              <a:rPr lang="en-US" sz="1400">
                <a:ea typeface="+mn-lt"/>
                <a:cs typeface="+mn-lt"/>
              </a:rPr>
              <a:t>, vol. 222, pp. 52– 68, 2024. DOI: 10.1016/j.actaastro.2024.05.039.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G. Di Mauro, M. Lawn, and R. Bevilacqua, “Survey on guidance, navigation and control requirements for spacecraft formation-flying missions,” Journal of Guidance, Control, and Dynamics, vol. 41, no. 3, pp. 581– 602, 2018. DOI: 10.2514/1.G002868.</a:t>
            </a:r>
            <a:endParaRPr lang="en-US" sz="1400"/>
          </a:p>
          <a:p>
            <a:endParaRPr lang="en-US" sz="1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57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BC7DE-6183-E65F-B4A6-D3CD747C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921B3-47F6-8DF8-9A5E-E54BBDEE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12F7A-67B6-BBA1-C9FB-E6B123302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>
                <a:ea typeface="+mn-lt"/>
                <a:cs typeface="+mn-lt"/>
              </a:rPr>
              <a:t>C. J. Dennehy, R. Lanzi, and P. Ward, “GN&amp;C design overview and flight test results from NASA’s max launch abort system (MLAS),” in AIAA Guidance, Navigation, and Control Conference, NASA NTRS 20110000768, 2010.</a:t>
            </a:r>
          </a:p>
          <a:p>
            <a:r>
              <a:rPr lang="en-US" sz="1400">
                <a:ea typeface="+mn-lt"/>
                <a:cs typeface="+mn-lt"/>
              </a:rPr>
              <a:t>M. Levy, T. Shima, and S. Gutman, “Integrated single vs. two-loop autopilot-guidance design for dual- controlled missiles,” in 2013 10th IEEE International Conference on Control and Automation (ICCA), Hangzhou, China, 2013, pp. 1730–1735. DOI: 10.1109/ ICCA.2013.6564961.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B. L. Stevens, F. L. Lewis, and E. N. Johnson, Aircraft Control and Simulation: Dynamics, Controls Design, and Autonomous Systems, 3rd ed. Wiley, 2015.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M. V. Cook, Flight Dynamics Principles: A Linear Systems Approach to Aircraft Stability and Control, 3rd ed. Oxford: Butterworth-Heinemann, 2013, ISBN: 978-0-08-098242-7.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I. Papp, “Missile mathematical model and system design,” AARMS, vol. 16, no. 1, pp. 29–35, 2017. DOI: 10.32565/aarms.2017.1.3.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A. B. </a:t>
            </a:r>
            <a:r>
              <a:rPr lang="en-US" sz="1400" err="1">
                <a:ea typeface="+mn-lt"/>
                <a:cs typeface="+mn-lt"/>
              </a:rPr>
              <a:t>Kisabo</a:t>
            </a:r>
            <a:r>
              <a:rPr lang="en-US" sz="1400">
                <a:ea typeface="+mn-lt"/>
                <a:cs typeface="+mn-lt"/>
              </a:rPr>
              <a:t>, F. A. Aliyu, O. C. </a:t>
            </a:r>
            <a:r>
              <a:rPr lang="en-US" sz="1400" err="1">
                <a:ea typeface="+mn-lt"/>
                <a:cs typeface="+mn-lt"/>
              </a:rPr>
              <a:t>Okwo</a:t>
            </a:r>
            <a:r>
              <a:rPr lang="en-US" sz="1400">
                <a:ea typeface="+mn-lt"/>
                <a:cs typeface="+mn-lt"/>
              </a:rPr>
              <a:t>, and S. O. Samuel, “State-space modelling of a rocket for optimal control system design,” Journal of Aircraft and Spacecraft Technology, vol. 3, pp. 128–137, 2019. DOI: 10. 3844/jastsp.2019.128.137.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C.-T. Chen, Linear System Theory and Design, 4th ed. Oxford: Oxford University Press, 2013, ISBN: 9780199964543. </a:t>
            </a:r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1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4F195-5B8D-42D2-49DF-7540FF0C9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5916E0A4-A48D-D19C-1DFE-6EAFAA7D0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Question mark">
            <a:extLst>
              <a:ext uri="{FF2B5EF4-FFF2-40B4-BE49-F238E27FC236}">
                <a16:creationId xmlns:a16="http://schemas.microsoft.com/office/drawing/2014/main" id="{84F45537-3DE0-4D17-AD66-832D52C02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07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7235-A7B2-1A5F-CBCD-340E5CE6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7D27-C308-570A-3A6D-DB9EC9F9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956A6-108A-BCBC-1276-05A3D56B2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i="1" dirty="0">
              <a:latin typeface="Cambria Math" panose="02040503050406030204" pitchFamily="18" charset="0"/>
            </a:endParaRP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602B2B6-A2B6-3DD8-D697-0AEBD2195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803" y="873793"/>
            <a:ext cx="3291020" cy="771250"/>
          </a:xfrm>
          <a:prstGeom prst="rect">
            <a:avLst/>
          </a:prstGeom>
        </p:spPr>
      </p:pic>
      <p:pic>
        <p:nvPicPr>
          <p:cNvPr id="7" name="Picture 6" descr="A black symbols with a plus and a white background&#10;&#10;AI-generated content may be incorrect.">
            <a:extLst>
              <a:ext uri="{FF2B5EF4-FFF2-40B4-BE49-F238E27FC236}">
                <a16:creationId xmlns:a16="http://schemas.microsoft.com/office/drawing/2014/main" id="{3727D098-44B8-6C41-AF2C-E66092D2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078" y="78344"/>
            <a:ext cx="3632734" cy="614867"/>
          </a:xfrm>
          <a:prstGeom prst="rect">
            <a:avLst/>
          </a:prstGeom>
        </p:spPr>
      </p:pic>
      <p:pic>
        <p:nvPicPr>
          <p:cNvPr id="9" name="Picture 8" descr="A close up of a number&#10;&#10;AI-generated content may be incorrect.">
            <a:extLst>
              <a:ext uri="{FF2B5EF4-FFF2-40B4-BE49-F238E27FC236}">
                <a16:creationId xmlns:a16="http://schemas.microsoft.com/office/drawing/2014/main" id="{AA4C8FF4-1AD5-7D2A-1E06-6986A62850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239" y="1932918"/>
            <a:ext cx="3592584" cy="672297"/>
          </a:xfrm>
          <a:prstGeom prst="rect">
            <a:avLst/>
          </a:prstGeom>
        </p:spPr>
      </p:pic>
      <p:pic>
        <p:nvPicPr>
          <p:cNvPr id="11" name="Picture 10" descr="A black and white image of a letter&#10;&#10;AI-generated content may be incorrect.">
            <a:extLst>
              <a:ext uri="{FF2B5EF4-FFF2-40B4-BE49-F238E27FC236}">
                <a16:creationId xmlns:a16="http://schemas.microsoft.com/office/drawing/2014/main" id="{7F5A4D0E-1B7D-8F07-8480-1C2D29989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61" y="3134398"/>
            <a:ext cx="1495634" cy="866896"/>
          </a:xfrm>
          <a:prstGeom prst="rect">
            <a:avLst/>
          </a:prstGeom>
        </p:spPr>
      </p:pic>
      <p:pic>
        <p:nvPicPr>
          <p:cNvPr id="13" name="Picture 12" descr="A black text with a plus and a black letter&#10;&#10;AI-generated content may be incorrect.">
            <a:extLst>
              <a:ext uri="{FF2B5EF4-FFF2-40B4-BE49-F238E27FC236}">
                <a16:creationId xmlns:a16="http://schemas.microsoft.com/office/drawing/2014/main" id="{39A530E6-20C5-D542-F748-6098A192AF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719" y="4446400"/>
            <a:ext cx="3873451" cy="544902"/>
          </a:xfrm>
          <a:prstGeom prst="rect">
            <a:avLst/>
          </a:prstGeom>
        </p:spPr>
      </p:pic>
      <p:pic>
        <p:nvPicPr>
          <p:cNvPr id="15" name="Picture 1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37282C5-20D8-AF46-A3FE-DB15A1612B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501" y="5402095"/>
            <a:ext cx="3224753" cy="909805"/>
          </a:xfrm>
          <a:prstGeom prst="rect">
            <a:avLst/>
          </a:prstGeom>
        </p:spPr>
      </p:pic>
      <p:pic>
        <p:nvPicPr>
          <p:cNvPr id="17" name="Picture 16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FA1B360A-0B1A-5ACA-DB1D-6CC7F1A0DA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10" y="4675422"/>
            <a:ext cx="2041841" cy="637875"/>
          </a:xfrm>
          <a:prstGeom prst="rect">
            <a:avLst/>
          </a:prstGeom>
        </p:spPr>
      </p:pic>
      <p:pic>
        <p:nvPicPr>
          <p:cNvPr id="19" name="Picture 18" descr="A black and white symbol&#10;&#10;AI-generated content may be incorrect.">
            <a:extLst>
              <a:ext uri="{FF2B5EF4-FFF2-40B4-BE49-F238E27FC236}">
                <a16:creationId xmlns:a16="http://schemas.microsoft.com/office/drawing/2014/main" id="{4E35C11A-E97E-24B5-6369-1002A7584D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10" y="5313297"/>
            <a:ext cx="2307043" cy="73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5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27841D2D66904DAB5F3584D0B6E4F1" ma:contentTypeVersion="16" ma:contentTypeDescription="Create a new document." ma:contentTypeScope="" ma:versionID="b4efd1177500b6fac84e16d4a5e500ab">
  <xsd:schema xmlns:xsd="http://www.w3.org/2001/XMLSchema" xmlns:xs="http://www.w3.org/2001/XMLSchema" xmlns:p="http://schemas.microsoft.com/office/2006/metadata/properties" xmlns:ns3="b2c060e2-c2e4-4fc5-b141-335dcf1bf534" xmlns:ns4="fbb09f41-dc44-4b6a-85eb-51e1586591b2" targetNamespace="http://schemas.microsoft.com/office/2006/metadata/properties" ma:root="true" ma:fieldsID="d6bceebdcaafaba893e681b7882d3649" ns3:_="" ns4:_="">
    <xsd:import namespace="b2c060e2-c2e4-4fc5-b141-335dcf1bf534"/>
    <xsd:import namespace="fbb09f41-dc44-4b6a-85eb-51e1586591b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060e2-c2e4-4fc5-b141-335dcf1bf5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09f41-dc44-4b6a-85eb-51e1586591b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c060e2-c2e4-4fc5-b141-335dcf1bf534" xsi:nil="true"/>
  </documentManagement>
</p:properties>
</file>

<file path=customXml/itemProps1.xml><?xml version="1.0" encoding="utf-8"?>
<ds:datastoreItem xmlns:ds="http://schemas.openxmlformats.org/officeDocument/2006/customXml" ds:itemID="{0AD5D057-3394-4C24-AE31-B311F826EC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c060e2-c2e4-4fc5-b141-335dcf1bf534"/>
    <ds:schemaRef ds:uri="fbb09f41-dc44-4b6a-85eb-51e1586591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96586D-8E00-49D9-AE09-6F57965A5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E1BFB0-FF82-48A2-93FE-C40BBEEC518F}">
  <ds:schemaRefs>
    <ds:schemaRef ds:uri="http://www.w3.org/XML/1998/namespace"/>
    <ds:schemaRef ds:uri="http://schemas.microsoft.com/office/2006/documentManagement/types"/>
    <ds:schemaRef ds:uri="http://purl.org/dc/elements/1.1/"/>
    <ds:schemaRef ds:uri="b2c060e2-c2e4-4fc5-b141-335dcf1bf534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fbb09f41-dc44-4b6a-85eb-51e1586591b2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66fecaf8-3dc0-4d2c-b8b8-eff0ddea46f0}" enabled="0" method="" siteId="{66fecaf8-3dc0-4d2c-b8b8-eff0ddea46f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1080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Linearized Pitch-Axis Attitude Control of a Rocket Using State Feedback and Observer Design</vt:lpstr>
      <vt:lpstr>Introduction</vt:lpstr>
      <vt:lpstr>Background</vt:lpstr>
      <vt:lpstr>Problem Formulation</vt:lpstr>
      <vt:lpstr>Mechanical and System Modeling</vt:lpstr>
      <vt:lpstr>State Space Description</vt:lpstr>
      <vt:lpstr>Open Loop System Analysis</vt:lpstr>
      <vt:lpstr>System Controller</vt:lpstr>
      <vt:lpstr>Results Overview</vt:lpstr>
      <vt:lpstr>Results</vt:lpstr>
      <vt:lpstr>Results</vt:lpstr>
      <vt:lpstr>Results</vt:lpstr>
      <vt:lpstr>Conclusions</vt:lpstr>
      <vt:lpstr>Bibliography</vt:lpstr>
      <vt:lpstr>Bibliography</vt:lpstr>
      <vt:lpstr>Questions?</vt:lpstr>
      <vt:lpstr>Individual Equations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Moye, Dakota (djmoye43)</dc:creator>
  <cp:lastModifiedBy>Moye, Dakota (djmoye43)</cp:lastModifiedBy>
  <cp:revision>116</cp:revision>
  <dcterms:created xsi:type="dcterms:W3CDTF">2025-12-03T14:16:05Z</dcterms:created>
  <dcterms:modified xsi:type="dcterms:W3CDTF">2025-12-04T05:06:49Z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0x0101008B27841D2D66904DAB5F3584D0B6E4F1</vt:lpwstr>
  </property>
</Properties>
</file>